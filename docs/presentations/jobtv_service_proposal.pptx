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>
                <a:solidFill>
                  <a:srgbClr val="2E86DE"/>
                </a:solidFill>
                <a:latin typeface="Calibri"/>
              </a:rPr>
              <a:t>JOBTV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メイリオ"/>
              </a:rPr>
              <a:t>サービス開発のご提案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AABBCC"/>
                </a:solidFill>
                <a:latin typeface="メイリオ"/>
              </a:rPr>
              <a:t>動画 × 新卒採用プラットフォーム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7F8C9A"/>
                </a:solidFill>
                <a:latin typeface="Calibri"/>
              </a:rPr>
              <a:t>2026年3月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D3A4A"/>
                </a:solidFill>
                <a:latin typeface="メイリオ"/>
              </a:rPr>
              <a:t>プロジェクト概要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554480"/>
            <a:ext cx="5486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6276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276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D3A4A"/>
                </a:solidFill>
                <a:latin typeface="メイリオ"/>
              </a:rPr>
              <a:t>プロジェクトのスコープ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993392"/>
            <a:ext cx="5486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06654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0665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D3A4A"/>
                </a:solidFill>
                <a:latin typeface="メイリオ"/>
              </a:rPr>
              <a:t>主要機能一覧（JOBTV）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432304"/>
            <a:ext cx="5486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50545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5054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D3A4A"/>
                </a:solidFill>
                <a:latin typeface="メイリオ"/>
              </a:rPr>
              <a:t>主要機能一覧（Event System / Agent Manager）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871216"/>
            <a:ext cx="5486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2944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Calibri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9443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D3A4A"/>
                </a:solidFill>
                <a:latin typeface="メイリオ"/>
              </a:rPr>
              <a:t>技術スタック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310128"/>
            <a:ext cx="5486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3383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Calibri"/>
              </a:rPr>
              <a:t>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D3A4A"/>
                </a:solidFill>
                <a:latin typeface="メイリオ"/>
              </a:rPr>
              <a:t>システムアーキテクチャ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749040"/>
            <a:ext cx="5486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382219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Calibri"/>
              </a:rPr>
              <a:t>7.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822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D3A4A"/>
                </a:solidFill>
                <a:latin typeface="メイリオ"/>
              </a:rPr>
              <a:t>セキュリティ・品質管理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187952"/>
            <a:ext cx="5486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0" y="426110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Calibri"/>
              </a:rPr>
              <a:t>8.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2611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D3A4A"/>
                </a:solidFill>
                <a:latin typeface="メイリオ"/>
              </a:rPr>
              <a:t>前提条件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626864"/>
            <a:ext cx="5486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470001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Calibri"/>
              </a:rPr>
              <a:t>9.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7000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D3A4A"/>
                </a:solidFill>
                <a:latin typeface="メイリオ"/>
              </a:rPr>
              <a:t>プロジェクト体制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5065776"/>
            <a:ext cx="5486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5138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Calibri"/>
              </a:rPr>
              <a:t>10.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1389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D3A4A"/>
                </a:solidFill>
                <a:latin typeface="メイリオ"/>
              </a:rPr>
              <a:t>スケジュール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5504688"/>
            <a:ext cx="5486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" y="5577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Calibri"/>
              </a:rPr>
              <a:t>11.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D3A4A"/>
                </a:solidFill>
                <a:latin typeface="メイリオ"/>
              </a:rPr>
              <a:t>お見積り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5943600"/>
            <a:ext cx="5486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1. プロジェクト概要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B2A4A"/>
                </a:solidFill>
                <a:latin typeface="メイリオ"/>
              </a:rPr>
              <a:t>動画で届ける、新しい新卒採用プラットフォーム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D3A4A"/>
                </a:solidFill>
                <a:latin typeface="メイリオ"/>
              </a:rPr>
              <a:t>JOBTVは、企業が自社の魅力を動画で発信し、学生が「見て」「感じて」企業を選ぶ
新卒採用プラットフォームです。従来のテキスト中心の求人情報では伝わりにくい
職場の雰囲気や社員の生の声を、高品質な動画コンテンツで届けます。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3383280" cy="201168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企業向け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動画で企業文化・職場環境を
発信。求人情報と連動した
リッチなコンテンツ管理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3017520"/>
            <a:ext cx="3383280" cy="201168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学生向け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動画視聴で企業理解を深め、
説明会予約・エントリーまで
シームレスに完結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017520"/>
            <a:ext cx="3383280" cy="201168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運営向け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コンテンツ審査・配信管理、
イベント運営、候補者管理を
一元化した管理画面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86DE"/>
                </a:solidFill>
                <a:latin typeface="メイリオ"/>
              </a:rPr>
              <a:t>ビジョン:  企業と学生の「最適な出会い」を動画の力で創出する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2. プロジェクトのスコープ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メイリオ"/>
              </a:rPr>
              <a:t>3つのアプリケーションで構成されるモノレポ構成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383280" cy="347472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2E86DE"/>
                </a:solidFill>
                <a:latin typeface="メイリオ"/>
              </a:rPr>
              <a:t>JOBTV（メインサイト）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2D3A4A"/>
                </a:solidFill>
                <a:latin typeface="メイリオ"/>
              </a:rPr>
              <a:t>学生向けサイト + 企業向け Studio
● 動画視聴・企業ページ・求人閲覧
● 企業によるコンテンツ入稿・管理
● 管理者による審査・公開制御
● LINE連携・通知・CMS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920240"/>
            <a:ext cx="3383280" cy="347472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1B2A4A"/>
                </a:solidFill>
                <a:latin typeface="メイリオ"/>
              </a:rPr>
              <a:t>Event System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2D3A4A"/>
                </a:solidFill>
                <a:latin typeface="メイリオ"/>
              </a:rPr>
              <a:t>イベント運営プラットフォーム
● 合同説明会の企画・運営
● 参加企業・学生の管理
● 予約・座席管理・当日運営
● マッチングアルゴリズム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920240"/>
            <a:ext cx="3383280" cy="347472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27AE60"/>
                </a:solidFill>
                <a:latin typeface="メイリオ"/>
              </a:rPr>
              <a:t>Agent Manager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2D3A4A"/>
                </a:solidFill>
                <a:latin typeface="メイリオ"/>
              </a:rPr>
              <a:t>候補者管理システム
● 候補者情報の一元管理
● 選考ステータス追跡
● エージェント業務支援
● レポート・分析機能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F8C9A"/>
                </a:solidFill>
                <a:latin typeface="メイリオ"/>
              </a:rPr>
              <a:t>※ 共通パッケージ（UI / DB型 / 設定）はモノレポ内で共有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3. 主要機能一覧（JOBTV）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8872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649224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カテゴリ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機能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概要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動画配信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HLSストリーミング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AWS MediaConvert + CloudFront による高品質配信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動画配信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動画エディタ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ブラウザ上でのトリミング・字幕編集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企業ページ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企業プロフィール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動画・画像・テキストによるリッチな企業紹介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求人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求人管理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Draft/Production ワークフローによる品質管理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説明会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オンライン説明会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予約・リマインダー・Zoom連携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LINE連携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配信・CTA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セグメント配信・リッチメニュー・スケジュール配信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CMS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LP・コンテンツ管理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トップページ・特集ページの動的管理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通知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マルチチャネル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Email / LINE / Slack / Sheets / アプリ内通知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認証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ロール管理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Admin(MFA) / Recruiter / Candidate の3ロール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4. 主要機能一覧（Event System / Agent Manager）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2E86DE"/>
                </a:solidFill>
                <a:latin typeface="メイリオ"/>
              </a:rPr>
              <a:t>Event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合同説明会イベントの企画・作成・公開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参加企業の募集・管理・ブース割当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学生の予約受付・座席管理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当日の受付・出席管理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イベント後のマッチング・フィードバック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27AE60"/>
                </a:solidFill>
                <a:latin typeface="メイリオ"/>
              </a:rPr>
              <a:t>Agent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候補者データベースの一元管理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選考プロセスのステータス管理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企業・候補者間コミュニケーション記録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エージェント向けダッシュボード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実績レポート・KPI分析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25400" cy="2926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B2A4A"/>
                </a:solidFill>
                <a:latin typeface="メイリオ"/>
              </a:rPr>
              <a:t>共通基盤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2468880" cy="11887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認証・認可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2D3A4A"/>
                </a:solidFill>
                <a:latin typeface="メイリオ"/>
              </a:rPr>
              <a:t>Supabase Auth + RLS
ロールベースアクセス制御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4846320"/>
            <a:ext cx="2468880" cy="11887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通知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2D3A4A"/>
                </a:solidFill>
                <a:latin typeface="メイリオ"/>
              </a:rPr>
              <a:t>Email / LINE / Slack
マルチチャネル通知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4846320"/>
            <a:ext cx="2468880" cy="11887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UI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2D3A4A"/>
                </a:solidFill>
                <a:latin typeface="メイリオ"/>
              </a:rPr>
              <a:t>共通UIコンポーネント
デザインシステム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4846320"/>
            <a:ext cx="2468880" cy="11887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データ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2D3A4A"/>
                </a:solidFill>
                <a:latin typeface="メイリオ"/>
              </a:rPr>
              <a:t>共通DB型定義
型安全なクエリ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5. 技術スタック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88720"/>
          <a:ext cx="1069848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212080"/>
              </a:tblGrid>
              <a:tr h="34747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レイヤー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技術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用途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フロントエンド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Next.js 15 (App Router)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SSR/SSG/RSC によるハイブリッドレンダリング</a:t>
                      </a:r>
                    </a:p>
                  </a:txBody>
                  <a:tcPr anchor="ctr"/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言語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TypeScript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型安全な開発、フルスタック共通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スタイリング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Tailwind CSS + shadcn/ui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ユーティリティファースト + コンポーネントライブラリ</a:t>
                      </a:r>
                    </a:p>
                  </a:txBody>
                  <a:tcPr anchor="ctr"/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バックエンド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Supabase (PostgreSQL)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認証・DB・RLS・Realtime・Storage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動画配信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AWS (S3 + MediaConvert + CloudFront)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HLS変換・CDN配信・署名付きURL</a:t>
                      </a:r>
                    </a:p>
                  </a:txBody>
                  <a:tcPr anchor="ctr"/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ホスティング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Vercel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自動デプロイ・Edge Functions・Cron Jobs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LINE連携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LINE Messaging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リッチメニュー・Flex Message・配信</a:t>
                      </a:r>
                    </a:p>
                  </a:txBody>
                  <a:tcPr anchor="ctr"/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メール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Amazon SES / Resend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トランザクションメール・通知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モノレポ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pnpm Workspaces + Turborepo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依存管理・ビルド最適化</a:t>
                      </a:r>
                    </a:p>
                  </a:txBody>
                  <a:tcPr anchor="ctr"/>
                </a:tc>
              </a:tr>
              <a:tr h="3474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E2Eテスト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Playwright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マルチアプリ対応・認証フィクスチャ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6. システムアーキテクチャ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メイリオ"/>
              </a:rPr>
              <a:t>モノレポ構成 × サーバーレスアーキテクチャ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6627" y="1645920"/>
            <a:ext cx="2286000" cy="109728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Client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ブラウザ / LINE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20059" y="19202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4107" y="1645920"/>
            <a:ext cx="2286000" cy="1097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Vercel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Next.js SSR
Edge Functions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17539" y="19202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1587" y="1645920"/>
            <a:ext cx="2286000" cy="109728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Supabase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Auth / DB
RLS / Storage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15019" y="19202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99067" y="1645920"/>
            <a:ext cx="2286000" cy="1097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AWS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S3 / MediaConvert
CloudFront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B2A4A"/>
                </a:solidFill>
                <a:latin typeface="メイリオ"/>
              </a:rPr>
              <a:t>モノレポ構造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2D3A4A"/>
                </a:solidFill>
                <a:latin typeface="メイリオ"/>
              </a:rPr>
              <a:t>● apps/jobtv — メインサイト (port 3000)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D3A4A"/>
                </a:solidFill>
                <a:latin typeface="メイリオ"/>
              </a:rPr>
              <a:t>● apps/event-system — イベント管理 (port 3001)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D3A4A"/>
                </a:solidFill>
                <a:latin typeface="メイリオ"/>
              </a:rPr>
              <a:t>● apps/agent-manager — 候補者管理 (port 3002)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D3A4A"/>
                </a:solidFill>
                <a:latin typeface="メイリオ"/>
              </a:rPr>
              <a:t>● packages/ui — 共通UIコンポーネント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D3A4A"/>
                </a:solidFill>
                <a:latin typeface="メイリオ"/>
              </a:rPr>
              <a:t>● packages/database — DB型定義・クライアント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D3A4A"/>
                </a:solidFill>
                <a:latin typeface="メイリオ"/>
              </a:rPr>
              <a:t>● packages/config — 共通設定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B2A4A"/>
                </a:solidFill>
                <a:latin typeface="メイリオ"/>
              </a:rPr>
              <a:t>動画配信パイプライン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2D3A4A"/>
                </a:solidFill>
                <a:latin typeface="メイリオ"/>
              </a:rPr>
              <a:t>● 1. 企業が動画をアップロード (S3)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D3A4A"/>
                </a:solidFill>
                <a:latin typeface="メイリオ"/>
              </a:rPr>
              <a:t>● 2. MediaConvert で HLS 変換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D3A4A"/>
                </a:solidFill>
                <a:latin typeface="メイリオ"/>
              </a:rPr>
              <a:t>● 3. CloudFront で CDN 配信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D3A4A"/>
                </a:solidFill>
                <a:latin typeface="メイリオ"/>
              </a:rPr>
              <a:t>● 4. 署名付き URL でセキュア再生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D3A4A"/>
                </a:solidFill>
                <a:latin typeface="メイリオ"/>
              </a:rPr>
              <a:t>● 5. アダプティブビットレート対応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7. セキュリティ・品質管理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16459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RLS（行レベルセキュリティ）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D3A4A"/>
                </a:solidFill>
                <a:latin typeface="メイリオ"/>
              </a:rPr>
              <a:t>全テーブルにRLSポリシーを適用。
ロール・テナントに基づくデータ分離を
DB層で強制し、IDOR攻撃を防止。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212080" cy="16459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MFA（多要素認証）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D3A4A"/>
                </a:solidFill>
                <a:latin typeface="メイリオ"/>
              </a:rPr>
              <a:t>管理者アカウントにTOTPベースの
多要素認証を必須化。
不正アクセスリスクを低減。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212080" cy="16459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Draft/Production審査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D3A4A"/>
                </a:solidFill>
                <a:latin typeface="メイリオ"/>
              </a:rPr>
              <a:t>企業コンテンツはDraft→Production
の2段階ワークフローで品質管理。
管理者承認なしに公開されない。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00400"/>
            <a:ext cx="5212080" cy="16459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CAPTCHA・ボット対策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D3A4A"/>
                </a:solidFill>
                <a:latin typeface="メイリオ"/>
              </a:rPr>
              <a:t>Cloudflare Turnstileを導入。
フォーム送信時のボット判定で
スパム・不正登録を防止。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F8C9A"/>
                </a:solidFill>
                <a:latin typeface="メイリオ"/>
              </a:rPr>
              <a:t>その他: XSS対策 / CSRF対策 / 署名付きURL / IP制限(admin) / 監査ログ / エラーバウンダリ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8. 前提条件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メイリオ"/>
              </a:rPr>
              <a:t>契約形態・開発範囲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準委任契約を想定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開発範囲は本提案書記載の機能を対象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追加機能は別途お見積り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開発環境・ステージング・本番の3環境構成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メイリオ"/>
              </a:rPr>
              <a:t>お客様にご準備いただくもの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AWSアカウント（動画配信用）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LINE公式アカウント（Messaging API）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ドメイン・DNS管理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動画素材・企業コンテンツ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67E22"/>
                </a:solidFill>
                <a:latin typeface="メイリオ"/>
              </a:rPr>
              <a:t>対象外事項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動画撮影・編集（素材制作）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ハードウェア・ネットワーク機器の調達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既存システムからのデータ移行（別途相談）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運用後の24/7監視体制（別途保守契約）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9. プロジェクト体制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286000"/>
            <a:ext cx="5760720" cy="2286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/>
            <a:r>
              <a:rPr sz="2800" b="1">
                <a:solidFill>
                  <a:srgbClr val="2E86DE"/>
                </a:solidFill>
                <a:latin typeface="メイリオ"/>
              </a:rPr>
              <a:t>後日差し替え予定</a:t>
            </a:r>
          </a:p>
          <a:p>
            <a:pPr algn="ctr">
              <a:spcBef>
                <a:spcPts val="1200"/>
              </a:spcBef>
            </a:pPr>
            <a:r>
              <a:rPr sz="1400" b="0">
                <a:solidFill>
                  <a:srgbClr val="7F8C9A"/>
                </a:solidFill>
                <a:latin typeface="メイリオ"/>
              </a:rPr>
              <a:t>本セクションの内容は別途ご相談のうえ記載いたします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10. スケジュール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286000"/>
            <a:ext cx="5760720" cy="2286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/>
            <a:r>
              <a:rPr sz="2800" b="1">
                <a:solidFill>
                  <a:srgbClr val="2E86DE"/>
                </a:solidFill>
                <a:latin typeface="メイリオ"/>
              </a:rPr>
              <a:t>後日差し替え予定</a:t>
            </a:r>
          </a:p>
          <a:p>
            <a:pPr algn="ctr">
              <a:spcBef>
                <a:spcPts val="1200"/>
              </a:spcBef>
            </a:pPr>
            <a:r>
              <a:rPr sz="1400" b="0">
                <a:solidFill>
                  <a:srgbClr val="7F8C9A"/>
                </a:solidFill>
                <a:latin typeface="メイリオ"/>
              </a:rPr>
              <a:t>本セクションの内容は別途ご相談のうえ記載いたします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11. お見積り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Service Proposal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286000"/>
            <a:ext cx="5760720" cy="2286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/>
            <a:r>
              <a:rPr sz="2800" b="1">
                <a:solidFill>
                  <a:srgbClr val="2E86DE"/>
                </a:solidFill>
                <a:latin typeface="メイリオ"/>
              </a:rPr>
              <a:t>後日差し替え予定</a:t>
            </a:r>
          </a:p>
          <a:p>
            <a:pPr algn="ctr">
              <a:spcBef>
                <a:spcPts val="1200"/>
              </a:spcBef>
            </a:pPr>
            <a:r>
              <a:rPr sz="1400" b="0">
                <a:solidFill>
                  <a:srgbClr val="7F8C9A"/>
                </a:solidFill>
                <a:latin typeface="メイリオ"/>
              </a:rPr>
              <a:t>本セクションの内容は別途ご相談のうえ記載いたします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