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400" b="1">
                <a:solidFill>
                  <a:srgbClr val="2E86DE"/>
                </a:solidFill>
                <a:latin typeface="Calibri"/>
              </a:rPr>
              <a:t>JOBTV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メイリオ"/>
              </a:rPr>
              <a:t>プロジェクト報告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>
                <a:solidFill>
                  <a:srgbClr val="AABBCC"/>
                </a:solidFill>
                <a:latin typeface="メイリオ"/>
              </a:rPr>
              <a:t>動画 × 新卒採用プラットフォーム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7F8C9A"/>
                </a:solidFill>
                <a:latin typeface="Calibri"/>
              </a:rPr>
              <a:t>2026年3月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1 /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Project Report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エグゼクティブサマリー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Project Report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B2A4A"/>
                </a:solidFill>
                <a:latin typeface="メイリオ"/>
              </a:rPr>
              <a:t>企業文化を「見て」選ぶ時代へ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474720" cy="164592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動画で届ける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DDEEFF"/>
                </a:solidFill>
                <a:latin typeface="メイリオ"/>
              </a:rPr>
              <a:t>HLS アダプティブストリーミングで
あらゆる環境で快適視聴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920240"/>
            <a:ext cx="3474720" cy="16459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品質と自走を両立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DDEEFF"/>
                </a:solidFill>
                <a:latin typeface="メイリオ"/>
              </a:rPr>
              <a:t>Draft/Production 審査ワークフロー
企業が入稿、管理者が承認・公開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920240"/>
            <a:ext cx="3474720" cy="1645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多チャネルで接点最大化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DDEEFF"/>
                </a:solidFill>
                <a:latin typeface="メイリオ"/>
              </a:rPr>
              <a:t>Email / LINE / Slack / Sheets /
アプリ内通知の 5 チャネル
LINE スケジュール配信対応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7F8C9A"/>
                </a:solidFill>
                <a:latin typeface="Calibri"/>
              </a:rPr>
              <a:t>Next.js 16    |    Supabase    |    AWS (S3 / MediaConvert / CloudFront)    |    Vercel    |    TypeScript    |    SEO / AIO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2E86DE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572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ユーザーロール
admin / recruiter / candidate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5720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2E86DE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572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通知チャネル
Email / LINE / Slack / Sheets /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720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2E86DE"/>
                </a:solidFill>
                <a:latin typeface="Calibri"/>
              </a:rPr>
              <a:t>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4572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審査対象コンテンツ
企業ページ / 情報 / 求人 / 説明会 / 動画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45720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2E86DE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4572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定期処理（Cron）
リマインダー / LINE 配信 / リトライ / 清掃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目次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Project Report  | 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463040"/>
            <a:ext cx="640080" cy="64008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B2A4A"/>
                </a:solidFill>
                <a:latin typeface="メイリオ"/>
              </a:rPr>
              <a:t>サービス概要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7F8C9A"/>
                </a:solidFill>
                <a:latin typeface="メイリオ"/>
              </a:rPr>
              <a:t>全体像・ビジネスフロー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286000"/>
            <a:ext cx="640080" cy="64008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331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B2A4A"/>
                </a:solidFill>
                <a:latin typeface="メイリオ"/>
              </a:rPr>
              <a:t>動画・コンテンツ管理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7F8C9A"/>
                </a:solidFill>
                <a:latin typeface="メイリオ"/>
              </a:rPr>
              <a:t>HLS 配信・企業ページ・CMS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3108960"/>
            <a:ext cx="640080" cy="64008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B2A4A"/>
                </a:solidFill>
                <a:latin typeface="メイリオ"/>
              </a:rPr>
              <a:t>企業向け機能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7F8C9A"/>
                </a:solidFill>
                <a:latin typeface="メイリオ"/>
              </a:rPr>
              <a:t>スタジオ・管理画面・審査フロー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931920"/>
            <a:ext cx="640080" cy="64008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B2A4A"/>
                </a:solidFill>
                <a:latin typeface="メイリオ"/>
              </a:rPr>
              <a:t>技術基盤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7F8C9A"/>
                </a:solidFill>
                <a:latin typeface="メイリオ"/>
              </a:rPr>
              <a:t>スタック・動画インフラ・DB 設計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4754880"/>
            <a:ext cx="640080" cy="64008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B2A4A"/>
                </a:solidFill>
                <a:latin typeface="メイリオ"/>
              </a:rPr>
              <a:t>セキュリティ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7F8C9A"/>
                </a:solidFill>
                <a:latin typeface="メイリオ"/>
              </a:rPr>
              <a:t>多層防御・RLS・アクセス制御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5577840"/>
            <a:ext cx="640080" cy="64008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623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B2A4A"/>
                </a:solidFill>
                <a:latin typeface="メイリオ"/>
              </a:rPr>
              <a:t>運用・展望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7F8C9A"/>
                </a:solidFill>
                <a:latin typeface="メイリオ"/>
              </a:rPr>
              <a:t>デプロイ・監視・ロードマップ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JOBTV とは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Project Report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D3A4A"/>
                </a:solidFill>
                <a:latin typeface="メイリオ"/>
              </a:rPr>
              <a:t>新卒採用を動画で変える。企業密着・社員インタビュー・職場見学をリアルに届けるプラットフォーム。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74720" cy="210312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sz="2200" b="1">
                <a:solidFill>
                  <a:srgbClr val="FFFFFF"/>
                </a:solidFill>
                <a:latin typeface="メイリオ"/>
              </a:rPr>
              <a:t>学生</a:t>
            </a:r>
          </a:p>
          <a:p>
            <a:r>
              <a:rPr sz="1200" b="0">
                <a:solidFill>
                  <a:srgbClr val="AACCEE"/>
                </a:solidFill>
                <a:latin typeface="Calibri"/>
              </a:rPr>
              <a:t>Candidate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DDEEFF"/>
                </a:solidFill>
                <a:latin typeface="メイリオ"/>
              </a:rPr>
              <a:t>動画視聴・求人エントリー
説明会予約・LINE 連携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474720" cy="21031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sz="2200" b="1">
                <a:solidFill>
                  <a:srgbClr val="FFFFFF"/>
                </a:solidFill>
                <a:latin typeface="メイリオ"/>
              </a:rPr>
              <a:t>企業担当者</a:t>
            </a:r>
          </a:p>
          <a:p>
            <a:r>
              <a:rPr sz="1200" b="0">
                <a:solidFill>
                  <a:srgbClr val="AACCEE"/>
                </a:solidFill>
                <a:latin typeface="Calibri"/>
              </a:rPr>
              <a:t>Recruiter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DDEEFF"/>
                </a:solidFill>
                <a:latin typeface="メイリオ"/>
              </a:rPr>
              <a:t>動画アップロード・企業ページ
求人・説明会の入稿管理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828800"/>
            <a:ext cx="3474720" cy="210312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sz="2200" b="1">
                <a:solidFill>
                  <a:srgbClr val="FFFFFF"/>
                </a:solidFill>
                <a:latin typeface="メイリオ"/>
              </a:rPr>
              <a:t>管理者</a:t>
            </a:r>
          </a:p>
          <a:p>
            <a:r>
              <a:rPr sz="1200" b="0">
                <a:solidFill>
                  <a:srgbClr val="AACCEE"/>
                </a:solidFill>
                <a:latin typeface="Calibri"/>
              </a:rPr>
              <a:t>Admin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DDEEFF"/>
                </a:solidFill>
                <a:latin typeface="メイリオ"/>
              </a:rPr>
              <a:t>審査・承認・トップ CMS
ユーザー管理・LINE 配信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F8C9A"/>
                </a:solidFill>
                <a:latin typeface="Calibri"/>
              </a:rPr>
              <a:t>本番ドメイン: https://media.jobtv.jp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ビジネスフロー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Project Report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B2A4A"/>
                </a:solidFill>
                <a:latin typeface="メイリオ"/>
              </a:rPr>
              <a:t>企業側: 掲載から公開まで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55267" y="1554480"/>
            <a:ext cx="2011680" cy="91440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企業登録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admin が
アカウント作成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94379" y="182880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78427" y="1554480"/>
            <a:ext cx="2011680" cy="914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コンテンツ入稿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動画・企業ページ
求人・説明会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17539" y="182880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1587" y="1554480"/>
            <a:ext cx="2011680" cy="91440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審査・承認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admin が
レビュー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340699" y="182880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24747" y="1554480"/>
            <a:ext cx="2011680" cy="914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公開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status = active
で表示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26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B2A4A"/>
                </a:solidFill>
                <a:latin typeface="メイリオ"/>
              </a:rPr>
              <a:t>学生側: 視聴からエントリーまで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55267" y="3383280"/>
            <a:ext cx="2011680" cy="91440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会員登録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メール認証
+ プロフィール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494379" y="365760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78427" y="3383280"/>
            <a:ext cx="2011680" cy="914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動画視聴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企業動画を
体験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17539" y="365760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1587" y="3383280"/>
            <a:ext cx="2011680" cy="91440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エントリー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求人応募
/ 説明会予約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340699" y="365760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24747" y="3383280"/>
            <a:ext cx="2011680" cy="914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通知受信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メール・LINE
リマインダー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B2A4A"/>
                </a:solidFill>
                <a:latin typeface="メイリオ"/>
              </a:rPr>
              <a:t>審査ワークフロー（全コンテンツ共通）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9507" y="5120640"/>
            <a:ext cx="2194560" cy="77724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Draft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下書き
編集可能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311499" y="539496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95547" y="5120640"/>
            <a:ext cx="2194560" cy="7772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Submitted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審査申請
編集ロック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917539" y="539496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01587" y="5120640"/>
            <a:ext cx="2194560" cy="77724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Approved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承認済み
本番反映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523579" y="539496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07627" y="5120640"/>
            <a:ext cx="2194560" cy="7772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Active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公開中
ON/OFF 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動画配信システム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Project Report  | 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887" y="1188720"/>
            <a:ext cx="1828800" cy="82296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S3 Upload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元動画を保存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57119" y="146304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41167" y="1188720"/>
            <a:ext cx="1828800" cy="8229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MediaConvert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HLS 変換
1080p + 720p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97399" y="146304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81447" y="1188720"/>
            <a:ext cx="1828800" cy="82296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S3 HLS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セグメント保存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37679" y="146304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1727" y="1188720"/>
            <a:ext cx="1828800" cy="8229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CloudFront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CDN 配信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277959" y="146304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62007" y="1188720"/>
            <a:ext cx="1828800" cy="82296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HLS.js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ブラウザ再生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468880"/>
            <a:ext cx="2651760" cy="109728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解像度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D3A4A"/>
                </a:solidFill>
                <a:latin typeface="メイリオ"/>
              </a:rPr>
              <a:t>1080p (5Mbps)
720p (3Mbps)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2468880"/>
            <a:ext cx="2651760" cy="109728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形式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D3A4A"/>
                </a:solidFill>
                <a:latin typeface="メイリオ"/>
              </a:rPr>
              <a:t>HLS (.m3u8 + .ts)
H.264 + AAC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468880"/>
            <a:ext cx="2651760" cy="109728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対応入力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D3A4A"/>
                </a:solidFill>
                <a:latin typeface="メイリオ"/>
              </a:rPr>
              <a:t>MP4 / WebM
MOV / AVI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468880"/>
            <a:ext cx="2651760" cy="109728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制限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D3A4A"/>
                </a:solidFill>
                <a:latin typeface="メイリオ"/>
              </a:rPr>
              <a:t>動画 500MB（S3 直接）
サムネイル 5MB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31520" y="3931920"/>
          <a:ext cx="106984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3657600"/>
                <a:gridCol w="411480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カテゴリ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上限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用途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表示場所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メインビデオ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1本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企業の主力紹介動画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企業ページトップ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ショート動画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10本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社員インタビュー等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企業ページ + トップ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ドキュメンタリー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10本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企業密着・職場見学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企業ページ + トップ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企業ページ管理（Draft / Production）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Project Report  | 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55267" y="1188720"/>
            <a:ext cx="2011680" cy="91440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Draft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企業担当者が
スタジオで編集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94379" y="146304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78427" y="1188720"/>
            <a:ext cx="2011680" cy="914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Submitted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編集ロック
管理者待ち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17539" y="146304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1587" y="1188720"/>
            <a:ext cx="2011680" cy="91440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Approved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本番に反映
公開 ON/OFF 可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340699" y="146304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24747" y="1188720"/>
            <a:ext cx="2011680" cy="914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Active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公開サイトに
表示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2560320"/>
          <a:ext cx="106984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2286000"/>
                <a:gridCol w="402336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機能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ドラフト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本番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審査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企業ページ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company_pages_draft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company_pages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/admin/review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企業情報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companies_draft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companies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/admin/review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求人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job_postings_draft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job_postings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/admin/jobs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説明会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sessions_draft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sessions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/admin/sessions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動画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videos_draft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videos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/admin（動画タブ）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F8C9A"/>
                </a:solidFill>
                <a:latin typeface="メイリオ"/>
              </a:rPr>
              <a:t>admin は審査バイパスで直接入稿も可能（ドラフト approved + 本番 active を同時書き込み）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管理者の企業管理（6タブ構成）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Project Report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2A4A"/>
                </a:solidFill>
                <a:latin typeface="メイリオ"/>
              </a:rPr>
              <a:t>/admin/company-accounts/[companyId] — 企業のすべてを一画面で管理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474720" cy="173736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D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メイリオ"/>
              </a:rPr>
              <a:t>企業情報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21408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企業名・ロゴ・業界・従業員数
サムネイル直接更新可能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737360"/>
            <a:ext cx="3474720" cy="173736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D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19" y="1874520"/>
            <a:ext cx="502920" cy="50292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799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メイリオ"/>
              </a:rPr>
              <a:t>企業ページ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799" y="2121408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キャッチコピー・紹介文・SNS
福利厚生・カバー画像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737360"/>
            <a:ext cx="3474720" cy="173736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D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66760" y="1874520"/>
            <a:ext cx="502920" cy="50292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メイリオ"/>
              </a:rPr>
              <a:t>求人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121408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求人一覧・新規作成
公開 ON/OFF トグル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79"/>
            <a:ext cx="3474720" cy="173736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D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3977639"/>
            <a:ext cx="502920" cy="50292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9319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メイリオ"/>
              </a:rPr>
              <a:t>説明会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24527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説明会一覧・日程管理
予約数の確認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840479"/>
            <a:ext cx="3474720" cy="173736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D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17719" y="3977639"/>
            <a:ext cx="502920" cy="50292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799" y="39319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メイリオ"/>
              </a:rPr>
              <a:t>動画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799" y="4224527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動画一覧・新規追加
カテゴリ別管理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840479"/>
            <a:ext cx="3474720" cy="173736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D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66760" y="3977639"/>
            <a:ext cx="502920" cy="50292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9319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メイリオ"/>
              </a:rPr>
              <a:t>リクルーター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4224527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担当者アカウント管理
招待メール送信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60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F8C9A"/>
                </a:solidFill>
                <a:latin typeface="メイリオ"/>
              </a:rPr>
              <a:t>各タブの保存は admin-company-detail-actions.ts で処理。審査フローをバイパスして直接本番に反映。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トップページ CMS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Project Report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2A4A"/>
                </a:solidFill>
                <a:latin typeface="メイリオ"/>
              </a:rPr>
              <a:t>admin が管理画面から直接 CRUD — 審査フロー不要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69848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3840480"/>
              </a:tblGrid>
              <a:tr h="34747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セクション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テーブル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管理画面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ヒーロースライド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top_page_hero_items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/admin/hero-items</a:t>
                      </a:r>
                    </a:p>
                  </a:txBody>
                  <a:tcPr anchor="ctr"/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バナー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top_page_banners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/admin/banners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アンバサダー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top_page_ambassadors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/admin/featured-videos</a:t>
                      </a:r>
                    </a:p>
                  </a:txBody>
                  <a:tcPr anchor="ctr"/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就活ドキュメンタリー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top_page_documentaries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/admin/featured-videos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しゅんダイアリー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top_page_shun_diaries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/admin/featured-videos</a:t>
                      </a:r>
                    </a:p>
                  </a:txBody>
                  <a:tcPr anchor="ctr"/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就活Shorts / Videos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top_page_featured_videos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/admin/featured-videos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LP サンプル動画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lp_sample_videos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/admin/lp-content</a:t>
                      </a:r>
                    </a:p>
                  </a:txBody>
                  <a:tcPr anchor="ctr"/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LP FAQ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lp_faq_items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/admin/lp-content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LP 企業ロゴ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lp_company_logos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/admin/lp-content</a:t>
                      </a:r>
                    </a:p>
                  </a:txBody>
                  <a:tcPr anchor="ctr"/>
                </a:tc>
              </a:tr>
              <a:tr h="3474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LP スクロールバナー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lp_scroll_banner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/admin/lp-content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LINE 連携・通知システム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10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Project Report  | 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029200" cy="256032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LINE 連携 &amp; 配信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D3A4A"/>
                </a:solidFill>
                <a:latin typeface="メイリオ"/>
              </a:rPr>
              <a:t>アカウント連携:
  LINE Login OAuth → candidates.line_user_id に保存
  マイページで連携・解除
セグメント配信 (/admin/line/broadcast):
  卒年度・業界・職種でフィルタ → Push 送信
  テキスト / Flex / カルーセル / 画像 / イメージマップ
  スケジュール配信・テスト送信・自動リトライ（3回）
  テンプレート保存・履歴閲覧・パーソナライズ変数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188720"/>
            <a:ext cx="5394960" cy="256032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5 チャネル通知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D3A4A"/>
                </a:solidFill>
                <a:latin typeface="メイリオ"/>
              </a:rPr>
              <a:t>Email:  SendGrid REST API（14 テンプレート）
LINE:   Messaging API Push（連携済み学生向け）
Slack:  Incoming Webhook（運営アラート）
Sheets: Sheets API v4（登録・予約データ記録）
App:    DB 駆動（Studio/管理画面内通知）
共通: fire-and-forget / 環境変数未設定時スキップ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4023360"/>
          <a:ext cx="86868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イベント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Email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LINE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Slack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Sheets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会員登録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✓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求人エントリー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✓→学生+企業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—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—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—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説明会予約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✓→学生+企業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—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イベント予約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✓→学生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✓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✓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✓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イベントリマインダー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✓→学生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—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管理者 LINE 配信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—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✓（予約可）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—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—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技術スタック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11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Project Report  | 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2743200" cy="274320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Frontend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DDEEFF"/>
                </a:solidFill>
                <a:latin typeface="メイリオ"/>
              </a:rPr>
              <a:t>Next.js 16 (App Router)
TypeScript
Tailwind CSS 4
shadcn/ui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80160"/>
            <a:ext cx="2743200" cy="2743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Backend / DB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DDEEFF"/>
                </a:solidFill>
                <a:latin typeface="メイリオ"/>
              </a:rPr>
              <a:t>Supabase (PostgreSQL)
Auth + RLS + Realtime
Server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2743200" cy="274320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動画基盤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DDEEFF"/>
                </a:solidFill>
                <a:latin typeface="メイリオ"/>
              </a:rPr>
              <a:t>Amazon S3（保存）
MediaConvert（HLS 変換）
CloudFront（CDN 配信）
HLS.js（ブラウザ再生）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280160"/>
            <a:ext cx="2743200" cy="2743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インフラ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DDEEFF"/>
                </a:solidFill>
                <a:latin typeface="メイリオ"/>
              </a:rPr>
              <a:t>Vercel（ホスティング）
Turborepo（Monorepo）
SendGrid（メール）
LINE Messaging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B2A4A"/>
                </a:solidFill>
                <a:latin typeface="メイリオ"/>
              </a:rPr>
              <a:t>Monorepo 構成（3 アプリ）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4754880"/>
          <a:ext cx="106984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704088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アプリ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ポート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概要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jobtv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3000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動画就活情報サイト（メイン）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event-system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3001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イベント運営システム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agent-manager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3002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エージェント管理システム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動画インフラ詳細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12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Project Report  | 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747" y="1188720"/>
            <a:ext cx="2377440" cy="82296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Upload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元動画を S3 に保存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28619" y="146304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12667" y="1188720"/>
            <a:ext cx="2377440" cy="8229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MediaConvert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2 解像度で
HLS 変換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17539" y="146304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1587" y="1188720"/>
            <a:ext cx="2377440" cy="82296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S3 (HLS)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セグメント
+ マニフェスト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06459" y="146304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90507" y="1188720"/>
            <a:ext cx="2377440" cy="8229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CloudFront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CDN
エッジ配信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68880"/>
            <a:ext cx="5486400" cy="274320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S3 バケット構造 (jobtv-videos-stg)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D3A4A"/>
                </a:solidFill>
                <a:latin typeface="メイリオ"/>
              </a:rPr>
              <a:t>companies/{companyId}/videos/{draftId}/original.ext
transcoded/
  └ {landscape|portrait}/{companyId}/videos/{videoId}/hls/
      ├ original.m3u8（マスター）
      ├ master_1080p.m3u8 / master_720p.m3u8
      └ *.ts（セグメント）
ライフサイクル: 元動画 → 90日後 Glacier アーカイブ
削除キューで安全な非同期削除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468880"/>
            <a:ext cx="4937760" cy="128016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アダプティブストリーミングの利点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D3A4A"/>
                </a:solidFill>
                <a:latin typeface="メイリオ"/>
              </a:rPr>
              <a:t>ネットワーク状況に応じた自動画質調整
スマホ/PC/タブレット最適化
iOS Safari 標準サポート（HLS）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931920"/>
            <a:ext cx="4937760" cy="128016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コスト目安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D3A4A"/>
                </a:solidFill>
                <a:latin typeface="メイリオ"/>
              </a:rPr>
              <a:t>S3: 元動画の約 2 倍（2 解像度分）
MediaConvert: 約 $0.0075/分
CloudFront: 転送量課金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データベース設計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13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Project Report  | 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383280" cy="237744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Draft / Production パターン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D3A4A"/>
                </a:solidFill>
                <a:latin typeface="メイリオ"/>
              </a:rPr>
              <a:t>スタジオで編集 → 審査 → 公開
ドラフト（*_draft）:
  draft → submitted → approved
本番テーブル:
  承認後に反映
  active / closed で公開制御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383280" cy="237744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RLS（Row Level Security）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D3A4A"/>
                </a:solidFill>
                <a:latin typeface="メイリオ"/>
              </a:rPr>
              <a:t>全テーブルで RLS 有効化
admin → 全件アクセス
recruiter → 自社のみ
candidate → 自分のみ
anon → 公開テーブル SELECT のみ
データ分離を DB レイヤーで担保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188720"/>
            <a:ext cx="3383280" cy="237744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監査ログ（audit_logs）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D3A4A"/>
                </a:solidFill>
                <a:latin typeface="メイリオ"/>
              </a:rPr>
              <a:t>管理者・システムの操作履歴を記録
action / category /
resource_type / resource_id /
app / metadata / ip_address
カテゴリ: content_review /
account / content_edit / access 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マイグレーション一元管理: supabase/migrations/ で全アプリ共通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型自動生成: pnpm types → database.types.ts（手動編集禁止）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本番 DB 変更は STG 検証済みマイグレーション経由のみ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セキュリティ — 多層防御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14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Project Report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2A4A"/>
                </a:solidFill>
                <a:latin typeface="メイリオ"/>
              </a:rPr>
              <a:t>11 のセキュリティレイヤーでサービスを保護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E86DE"/>
                </a:solidFill>
                <a:latin typeface="メイリオ"/>
              </a:rPr>
              <a:t>ネットワーク層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3444240" cy="105156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B2A4A"/>
                </a:solidFill>
                <a:latin typeface="メイリオ"/>
              </a:rPr>
              <a:t>DDoS 緩和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7F8C9A"/>
                </a:solidFill>
                <a:latin typeface="メイリオ"/>
              </a:rPr>
              <a:t>Vercel 標準提供
L3/L4/L7 自動遮断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640" y="1920240"/>
            <a:ext cx="3444240" cy="105156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B2A4A"/>
                </a:solidFill>
                <a:latin typeface="メイリオ"/>
              </a:rPr>
              <a:t>Vercel Firewall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7F8C9A"/>
                </a:solidFill>
                <a:latin typeface="メイリオ"/>
              </a:rPr>
              <a:t>/admin/* を IP 制限
許可 IP 以外は 403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85760" y="1920240"/>
            <a:ext cx="3444240" cy="105156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B2A4A"/>
                </a:solidFill>
                <a:latin typeface="メイリオ"/>
              </a:rPr>
              <a:t>Basic 認証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7F8C9A"/>
                </a:solidFill>
                <a:latin typeface="メイリオ"/>
              </a:rPr>
              <a:t>リリース前: 全体
リリース後: /admin のみ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E86DE"/>
                </a:solidFill>
                <a:latin typeface="メイリオ"/>
              </a:rPr>
              <a:t>認証・認可層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40"/>
            <a:ext cx="2537460" cy="105156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B2A4A"/>
                </a:solidFill>
                <a:latin typeface="メイリオ"/>
              </a:rPr>
              <a:t>Supabase Auth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7F8C9A"/>
                </a:solidFill>
                <a:latin typeface="メイリオ"/>
              </a:rPr>
              <a:t>メール/パスワード認証
全ロール共通基盤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1860" y="3520440"/>
            <a:ext cx="2537460" cy="105156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B2A4A"/>
                </a:solidFill>
                <a:latin typeface="メイリオ"/>
              </a:rPr>
              <a:t>MFA (TOTP)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7F8C9A"/>
                </a:solidFill>
                <a:latin typeface="メイリオ"/>
              </a:rPr>
              <a:t>admin 必須
Authenticator アプリ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520440"/>
            <a:ext cx="2537460" cy="105156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B2A4A"/>
                </a:solidFill>
                <a:latin typeface="メイリオ"/>
              </a:rPr>
              <a:t>RLS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7F8C9A"/>
                </a:solidFill>
                <a:latin typeface="メイリオ"/>
              </a:rPr>
              <a:t>全テーブルで有効
ロール別データ分離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2540" y="3520440"/>
            <a:ext cx="2537460" cy="105156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B2A4A"/>
                </a:solidFill>
                <a:latin typeface="メイリオ"/>
              </a:rPr>
              <a:t>ルート保護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7F8C9A"/>
                </a:solidFill>
                <a:latin typeface="メイリオ"/>
              </a:rPr>
              <a:t>requireAdmin()
requireStudioAuth()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E86DE"/>
                </a:solidFill>
                <a:latin typeface="メイリオ"/>
              </a:rPr>
              <a:t>アプリケーション層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20640"/>
            <a:ext cx="2537460" cy="105156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B2A4A"/>
                </a:solidFill>
                <a:latin typeface="メイリオ"/>
              </a:rPr>
              <a:t>CAPTCHA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7F8C9A"/>
                </a:solidFill>
                <a:latin typeface="メイリオ"/>
              </a:rPr>
              <a:t>Cloudflare Turnstile
ボット対策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1860" y="5120640"/>
            <a:ext cx="2537460" cy="105156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B2A4A"/>
                </a:solidFill>
                <a:latin typeface="メイリオ"/>
              </a:rPr>
              <a:t>CSRF 防止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7F8C9A"/>
                </a:solidFill>
                <a:latin typeface="メイリオ"/>
              </a:rPr>
              <a:t>state パラメータ
Cookie 照合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5120640"/>
            <a:ext cx="2537460" cy="105156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B2A4A"/>
                </a:solidFill>
                <a:latin typeface="メイリオ"/>
              </a:rPr>
              <a:t>Webhook 認証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7F8C9A"/>
                </a:solidFill>
                <a:latin typeface="メイリオ"/>
              </a:rPr>
              <a:t>SUPABASE_HOOK_SECRET
CRON_SECRET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92540" y="5120640"/>
            <a:ext cx="2537460" cy="105156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B2A4A"/>
                </a:solidFill>
                <a:latin typeface="メイリオ"/>
              </a:rPr>
              <a:t>監査ログ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7F8C9A"/>
                </a:solidFill>
                <a:latin typeface="メイリオ"/>
              </a:rPr>
              <a:t>操作履歴を記録
IP・メタデータ保持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セキュリティ — アクセス制御詳細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15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Project Report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2A4A"/>
                </a:solidFill>
                <a:latin typeface="メイリオ"/>
              </a:rPr>
              <a:t>RLS ポリシーによるデータ分離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50292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ロール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SELECT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INSERT/UPDATE/DELETE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admin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全テーブル全件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全テーブル全件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recruiter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自社 company_id のみ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自社データのみ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candidate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自分の candidate_id のみ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自分のデータのみ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anon（未認証）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公開テーブルのみ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全テーブル REVOKE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097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2A4A"/>
                </a:solidFill>
                <a:latin typeface="メイリオ"/>
              </a:rPr>
              <a:t>Vercel Firewall ルール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554480"/>
          <a:ext cx="52120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01168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対象パス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種類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条件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IP 制限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許可 IP 以外 → 403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/api/admin/*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IP 制限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API 直叩き防止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/api/auth/login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Rate Limit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10 req/min per IP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/api/studio/login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Rate Limit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10 req/min per IP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/api/cron/*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Rate Limit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1 req/min per IP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2A4A"/>
                </a:solidFill>
                <a:latin typeface="メイリオ"/>
              </a:rPr>
              <a:t>Storage ポリシー（company-assets）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4389120"/>
          <a:ext cx="502920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操作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条件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SELECT（公開読み取り）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全員（public バケット）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INSERT / UPDATE / DELETE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admin: 全パス可
recruiter: 自社パスのみ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本番 DB 変更の安全ガード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D3A4A"/>
                </a:solidFill>
                <a:latin typeface="メイリオ"/>
              </a:rPr>
              <a:t>マイグレーション経由のみ（直接 SQL 禁止）
STG 検証済み → PROD 適用前バックアップ
PITR（Point-in-Time Recovery）有効
Claude Code hooks で危険操作を物理ブロック
破壊的変更は 2 段階マイグレーション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環境・デプロイ戦略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16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Project Report  | 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88720"/>
          <a:ext cx="106984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371600"/>
                <a:gridCol w="2743200"/>
                <a:gridCol w="2743200"/>
                <a:gridCol w="265176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環境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ブランチ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デプロイ先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Supabase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AWS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ローカル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localhost:3000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STG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STG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開発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develop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Vercel Preview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STG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STG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STG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staging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Vercel カスタム環境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STG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STG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PROD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main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Vercel Production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PROD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PROD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089507" y="3383280"/>
            <a:ext cx="2194560" cy="77724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feature/*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機能開発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11499" y="365760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95547" y="3383280"/>
            <a:ext cx="2194560" cy="7772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develop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統合
（デフォルト）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17539" y="365760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1587" y="3383280"/>
            <a:ext cx="2194560" cy="77724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staging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STG
デプロイ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23579" y="3657600"/>
            <a:ext cx="347472" cy="347472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07627" y="3383280"/>
            <a:ext cx="2194560" cy="7772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main</a:t>
            </a:r>
          </a:p>
          <a:p>
            <a:pPr algn="ctr"/>
            <a:r>
              <a:rPr sz="1000" b="0">
                <a:solidFill>
                  <a:srgbClr val="CCDDEE"/>
                </a:solidFill>
                <a:latin typeface="メイリオ"/>
              </a:rPr>
              <a:t>PROD
デプロイ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3383280" cy="118872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Branch Protection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D3A4A"/>
                </a:solidFill>
                <a:latin typeface="メイリオ"/>
              </a:rPr>
              <a:t>main: PR 必須 + 承認 1 名
staging: PR 必須
force push 禁止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572000"/>
            <a:ext cx="3383280" cy="118872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定期処理（Cron 4本）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D3A4A"/>
                </a:solidFill>
                <a:latin typeface="メイリオ"/>
              </a:rPr>
              <a:t>リマインダー: 毎日 JST 10:00
LINE配信: 5分毎 / リトライ: 15分毎
ストレージ清掃: 毎日 JST 12:00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572000"/>
            <a:ext cx="3383280" cy="118872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1B2A4A"/>
                </a:solidFill>
                <a:latin typeface="メイリオ"/>
              </a:rPr>
              <a:t>監視・アラート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D3A4A"/>
                </a:solidFill>
                <a:latin typeface="メイリオ"/>
              </a:rPr>
              <a:t>Slack: メール失敗 / 新規登録 / イベント予約
メールログ: email_logs + 管理画面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改善ロードマップ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17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Project Report  | 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303520" cy="201168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27AE60"/>
                </a:solidFill>
                <a:latin typeface="メイリオ"/>
              </a:rPr>
              <a:t>完了済み ✓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D3A4A"/>
                </a:solidFill>
                <a:latin typeface="メイリオ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LINE 配信履歴・ログの DB 記録 → 実装済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学生向け確認メール（エントリー/予約） → 実装済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LINE テスト送信・スケジュール配信・自動リトライ → 実装済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LINE テンプレート保存・再利用 → 実装済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S3 ストレージ管理・削除キュー → 実装済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20116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E67E22"/>
                </a:solidFill>
                <a:latin typeface="メイリオ"/>
              </a:rPr>
              <a:t>高優先度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D3A4A"/>
                </a:solidFill>
                <a:latin typeface="メイリオ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通知オプトアウト機能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求人エントリー / 説明会の Slack・Sheets 連携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Email / Slack リトライ機構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303520" cy="201168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2E86DE"/>
                </a:solidFill>
                <a:latin typeface="メイリオ"/>
              </a:rPr>
              <a:t>インフラ・信頼性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D3A4A"/>
                </a:solidFill>
                <a:latin typeface="メイリオ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Sheets 書き込み失敗の Slack 通知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MediaConvert 完了の SNS 通知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分散トレーシング・メトリクス拡充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474720"/>
            <a:ext cx="5303520" cy="201168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400" b="1">
                <a:solidFill>
                  <a:srgbClr val="7F8C9A"/>
                </a:solidFill>
                <a:latin typeface="メイリオ"/>
              </a:rPr>
              <a:t>将来検討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D3A4A"/>
                </a:solidFill>
                <a:latin typeface="メイリオ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LINE A/B テスト配信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LINE Webhook（自動応答）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D3A4A"/>
                </a:solidFill>
                <a:latin typeface="メイリオ"/>
              </a:rPr>
              <a:t>● 全チャネル共通リトライ・キュー統合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ロール別機能: 学生（Candidate）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18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Project Report  | 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2286000" cy="45720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candidate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143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F8C9A"/>
                </a:solidFill>
                <a:latin typeface="メイリオ"/>
              </a:rPr>
              <a:t>公開ページ + /mypage  |  データ: 自分の candidate_id に紐づく情報のみ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474720" cy="182880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D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メイリオ"/>
              </a:rPr>
              <a:t>動画視聴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21284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HLS アダプティブストリーミング
企業の動画を無料視聴
メイン / ショート / ドキュメンタリー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828800"/>
            <a:ext cx="3474720" cy="182880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D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7719" y="1965960"/>
            <a:ext cx="502920" cy="50292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799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メイリオ"/>
              </a:rPr>
              <a:t>企業ページ閲覧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799" y="221284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企業プロフィール・求人一覧
説明会情報の確認
公開中（active）のみ表示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474720" cy="182880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D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66760" y="1965960"/>
            <a:ext cx="502920" cy="50292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メイリオ"/>
              </a:rPr>
              <a:t>求人エントリー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21284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企業ページから求人に応募
モーダル内で完結
重複エントリー防止（UNIQUE）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31920"/>
            <a:ext cx="3474720" cy="182880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D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4069080"/>
            <a:ext cx="502920" cy="50292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023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メイリオ"/>
              </a:rPr>
              <a:t>説明会予約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31596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日程を選んで予約
満席表示（RPC で件数取得）
予約後は企業に通知メール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3931920"/>
            <a:ext cx="3474720" cy="182880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D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17719" y="4069080"/>
            <a:ext cx="502920" cy="50292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799" y="4023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メイリオ"/>
              </a:rPr>
              <a:t>LINE 連携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799" y="431596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マイページからワンタップ連携
LINE Login OAuth
連携後プッシュ通知を受信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931920"/>
            <a:ext cx="3474720" cy="182880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D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66760" y="4069080"/>
            <a:ext cx="502920" cy="50292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4023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メイリオ"/>
              </a:rPr>
              <a:t>マイページ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31596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プロフィール編集
LINE 連携状態の確認・解除
学校マスタによるサジェスト入力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ロール別機能: 企業担当者（Recruiter）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19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Project Report  | 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228600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recruiter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143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F8C9A"/>
                </a:solidFill>
                <a:latin typeface="メイリオ"/>
              </a:rPr>
              <a:t>/studio 配下  |  データ: 自社 company_id のみ操作可能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474720" cy="182880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D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メイリオ"/>
              </a:rPr>
              <a:t>企業ページ管理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21284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/studio/company
キャッチコピー・紹介文・SNS
カバー画像の編集・審査申請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828800"/>
            <a:ext cx="3474720" cy="182880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D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7719" y="19659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799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メイリオ"/>
              </a:rPr>
              <a:t>動画管理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799" y="221284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/studio/videos
メイン / ショート / ドキュメンタリー
アップロード・編集・審査申請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474720" cy="182880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D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66760" y="19659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メイリオ"/>
              </a:rPr>
              <a:t>求人管理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21284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/studio/jobs
求人の作成・編集・審査申請
公開 ON/OFF トグル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31920"/>
            <a:ext cx="3474720" cy="182880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D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406908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023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メイリオ"/>
              </a:rPr>
              <a:t>説明会管理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31596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/studio/sessions
説明会の作成・日程管理
審査申請・公開 ON/OFF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3931920"/>
            <a:ext cx="3474720" cy="182880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D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17719" y="406908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799" y="4023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メイリオ"/>
              </a:rPr>
              <a:t>FAQ 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799" y="431596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/studio/faq
企業 FAQ の作成・編集
公開ページに表示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931920"/>
            <a:ext cx="3474720" cy="182880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D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66760" y="406908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4023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メイリオ"/>
              </a:rPr>
              <a:t>設定・通知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31596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F8C9A"/>
                </a:solidFill>
                <a:latin typeface="メイリオ"/>
              </a:rPr>
              <a:t>/studio/settings
企業プロフィール編集
チームメンバー招待・通知確認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メイリオ"/>
              </a:rPr>
              <a:t>ロール別機能: 管理者（Admin）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20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Project Report  | 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2286000" cy="45720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143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F8C9A"/>
                </a:solidFill>
                <a:latin typeface="メイリオ"/>
              </a:rPr>
              <a:t>/admin 配下（MFA + IP 制限）  |  データ: 全テーブル全件アクセス可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1737360"/>
          <a:ext cx="1161288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943600"/>
                <a:gridCol w="429768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カテゴリ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機能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パス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審査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企業ページ / 企業情報 / 求人 / 説明会 / 動画の承認・却下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/admin/review, /admin/jobs 等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企業管理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企業アカウント作成・6 タブ管理・審査バイパス直接入稿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/admin/company-accounts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学生管理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学生アカウントの個別作成・CSV 一括登録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/admin/student-accounts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CMS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ヒーロー / バナー / アンバサダー / 就活動画 / LP コンテンツ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/admin/hero-items 等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トップ掲載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就活 Shorts / Videos に表示する動画の選択・並び替え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/admin/featured-videos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LINE 配信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セグメント配信・スケジュール配信・テスト送信・自動リトライ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/admin/line/broadcast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LINE 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配信履歴・テンプレート管理・リッチメニュー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/admin/line/history 等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メール管理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テンプレート CRUD（14種） + 送信ログの閲覧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/admin/email/*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ストレージ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S3 / Supabase Storage の削除キュー管理・孤立ファイル清掃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/admin/storage-cleanup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監査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操作履歴（action / IP / metadata）の閲覧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/admin/audit-logs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通知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全体通知 / 企業別通知の作成・管理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A4A"/>
                          </a:solidFill>
                          <a:latin typeface="メイリオ"/>
                        </a:rPr>
                        <a:t>/admin/notifications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メイリオ"/>
              </a:rPr>
              <a:t>まとめ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5448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201168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動画ファーストの採用体験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DDEEFF"/>
                </a:solidFill>
                <a:latin typeface="メイリオ"/>
              </a:rPr>
              <a:t>HLS アダプティブストリーミングで
あらゆる環境で企業のリアルを伝える
SEO / AIO 対応で AI 時代の発見性も確保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2011680"/>
            <a:ext cx="3474720" cy="20116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品質と自走の両立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DDEEFF"/>
                </a:solidFill>
                <a:latin typeface="メイリオ"/>
              </a:rPr>
              <a:t>Draft/Production + 管理者審査で
品質を担保しつつ企業の自走を実現
LINE スケジュール配信・自動リトライ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011680"/>
            <a:ext cx="3474720" cy="201168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堅牢なセキュリティ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DDEEFF"/>
                </a:solidFill>
                <a:latin typeface="メイリオ"/>
              </a:rPr>
              <a:t>DDoS / RLS / MFA / IP 制限 /
CAPTCHA / 監査ログの多層防御
S3 削除キューで安全なストレージ管理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AABBCC"/>
                </a:solidFill>
                <a:latin typeface="メイリオ"/>
              </a:rPr>
              <a:t>Q &amp;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7F8C9A"/>
                </a:solidFill>
                <a:latin typeface="Calibri"/>
              </a:rPr>
              <a:t>JOBTV  |  https://media.jobtv.jp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91672" cy="1270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F8C9A"/>
                </a:solidFill>
                <a:latin typeface="Calibri"/>
              </a:rPr>
              <a:t>21 / 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F8C9A"/>
                </a:solidFill>
                <a:latin typeface="Calibri"/>
              </a:rPr>
              <a:t>JOBTV Project Report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